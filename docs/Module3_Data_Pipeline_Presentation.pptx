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02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2027"/>
                </a:solidFill>
                <a:latin typeface="Calibri"/>
              </a:rPr>
              <a:t>Highest-Missingness Fields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Missing (raw)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0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weight</c:v>
                  </c:pt>
                  <c:pt idx="1">
                    <c:v>max_glu_serum</c:v>
                  </c:pt>
                  <c:pt idx="2">
                    <c:v>A1Cresult</c:v>
                  </c:pt>
                  <c:pt idx="3">
                    <c:v>medical_specialty</c:v>
                  </c:pt>
                  <c:pt idx="4">
                    <c:v>payer_code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96.86</c:v>
                </c:pt>
                <c:pt idx="1">
                  <c:v>94.75</c:v>
                </c:pt>
                <c:pt idx="2">
                  <c:v>83.28</c:v>
                </c:pt>
                <c:pt idx="3">
                  <c:v>49.08</c:v>
                </c:pt>
                <c:pt idx="4">
                  <c:v>39.56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20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20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2EC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3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02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2027"/>
                </a:solidFill>
                <a:latin typeface="Calibri"/>
              </a:rPr>
              <a:t>By Race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Representation ratio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20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Asian</c:v>
                  </c:pt>
                  <c:pt idx="1">
                    <c:v>Other</c:v>
                  </c:pt>
                  <c:pt idx="2">
                    <c:v>Unknown</c:v>
                  </c:pt>
                  <c:pt idx="3">
                    <c:v>Caucasian</c:v>
                  </c:pt>
                  <c:pt idx="4">
                    <c:v>Hispanic</c:v>
                  </c:pt>
                  <c:pt idx="5">
                    <c:v>AfricanAmerican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0.64</c:v>
                </c:pt>
                <c:pt idx="1">
                  <c:v>0.76</c:v>
                </c:pt>
                <c:pt idx="2">
                  <c:v>0.44</c:v>
                </c:pt>
                <c:pt idx="3">
                  <c:v>0.98</c:v>
                </c:pt>
                <c:pt idx="4">
                  <c:v>1.06</c:v>
                </c:pt>
                <c:pt idx="5">
                  <c:v>1.16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B20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B20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</c:scaling>
        <c:delete val="0"/>
        <c:axPos val="b"/>
        <c:majorGridlines>
          <c:spPr>
            <a:ln w="12700" cap="flat">
              <a:solidFill>
                <a:srgbClr val="E2EC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3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02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2027"/>
                </a:solidFill>
                <a:latin typeface="Calibri"/>
              </a:rPr>
              <a:t>By Age Band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Representation ratio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20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[10-20)</c:v>
                  </c:pt>
                  <c:pt idx="1">
                    <c:v>[90-100)</c:v>
                  </c:pt>
                  <c:pt idx="2">
                    <c:v>[80-90)</c:v>
                  </c:pt>
                  <c:pt idx="3">
                    <c:v>[70-80)</c:v>
                  </c:pt>
                  <c:pt idx="4">
                    <c:v>[60-70)</c:v>
                  </c:pt>
                  <c:pt idx="5">
                    <c:v>[50-60)</c:v>
                  </c:pt>
                  <c:pt idx="6">
                    <c:v>[40-50)</c:v>
                  </c:pt>
                  <c:pt idx="7">
                    <c:v>[30-40)</c:v>
                  </c:pt>
                  <c:pt idx="8">
                    <c:v>[20-30)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0.88</c:v>
                </c:pt>
                <c:pt idx="1">
                  <c:v>0.83</c:v>
                </c:pt>
                <c:pt idx="2">
                  <c:v>0.97</c:v>
                </c:pt>
                <c:pt idx="3">
                  <c:v>0.95</c:v>
                </c:pt>
                <c:pt idx="4">
                  <c:v>0.95</c:v>
                </c:pt>
                <c:pt idx="5">
                  <c:v>1</c:v>
                </c:pt>
                <c:pt idx="6">
                  <c:v>1.19</c:v>
                </c:pt>
                <c:pt idx="7">
                  <c:v>1.26</c:v>
                </c:pt>
                <c:pt idx="8">
                  <c:v>1.59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B20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B20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"/>
        </c:scaling>
        <c:delete val="0"/>
        <c:axPos val="b"/>
        <c:majorGridlines>
          <c:spPr>
            <a:ln w="12700" cap="flat">
              <a:solidFill>
                <a:srgbClr val="E2EC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3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35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ENGINEERING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33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Data Pipeline for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Diabetic Readmission Risk Stratification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governed, and validated ETL pipeline — built and run against the real Diabetes 130-US Hospitals dataset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Sitienei  |  MSc Data Analytics, Nexford University  |  Capstone Module 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This Pipeline Serves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discharge planning teams have no data-driven way to prioritize post-discharge follow-up for diabetic patients with high prior-year utilization who are at elevated risk of 30-day readmission.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pipeline prepares the analytics-ready cohort that Module 4's predictive and prescriptive models will train on — carried directly from the Module 2 Technical Architecture.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2E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48006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5742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 risk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45720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2E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86200" y="48006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86200" y="5742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Capacity-ranked follow-up shortlist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600200"/>
            <a:ext cx="4572000" cy="4526280"/>
          </a:xfrm>
          <a:prstGeom prst="roundRect">
            <a:avLst>
              <a:gd name="adj" fmla="val 1616"/>
            </a:avLst>
          </a:prstGeom>
          <a:solidFill>
            <a:srgbClr val="01353D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21945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130-US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06640" y="30632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101,766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7406640" y="37947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inpatient encounters, 130 U.S. hospitals, 1999–2008 (Strack et al., 2014)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06640" y="4572000"/>
            <a:ext cx="38404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4709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06640" y="5230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35440" y="4709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235440" y="52303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ICD-9 codes across diag_1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Six-Stage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3832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diabetic_data.csv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IDS_mapping.csv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21992" y="3017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41448" y="210312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78608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578608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78608" y="2971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8608" y="33832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+ audit-log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0" y="3017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34256" y="210312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71416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471416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71416" y="2971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71416" y="33832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Recode, drop, impute,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filter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07608" y="3017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27064" y="210312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64224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364224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64224" y="2971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64224" y="33832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IDs,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suppression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00416" y="3017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119872" y="210312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57032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825703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57032" y="2971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57032" y="33832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checks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93224" y="3017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012680" y="210312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14984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101498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149840" y="2971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Check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149840" y="33832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Fairlearn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audit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end-to-end as a Prefect DAG — see Slide 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Inputs, Outputs &amp; Row-Level Lineage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394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diabetic_data.csv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CSV, 101,766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(1999–2008)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IDS_mapping.csv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CSV, 3 lookup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53949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data/processed/cleaned_cohort.csv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17,983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 modeling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LINEAGE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0" y="196596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0" y="20391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101,766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400800" y="24048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encounters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400800" y="27614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949440" y="3035808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14" name="Text 10"/>
          <p:cNvSpPr/>
          <p:nvPr/>
        </p:nvSpPr>
        <p:spPr>
          <a:xfrm>
            <a:off x="694944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99,343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949440" y="3474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hospice/deceased exclusion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00800" y="3831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772400" y="4105656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02C39A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0" y="4178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17,983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7772400" y="4544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high-utilization cohort filter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400800" y="531266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Deceased/hospice discharges are excluded before cohort filtering — a patient who died cannot be meaningfully “readmitted.”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PROCESSES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Missing Data &amp; Quality Issues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00200"/>
            <a:ext cx="4754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2E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022592" y="176479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/>
        </p:spPr>
      </p:sp>
      <p:sp>
        <p:nvSpPr>
          <p:cNvPr id="7" name="Text 4"/>
          <p:cNvSpPr/>
          <p:nvPr/>
        </p:nvSpPr>
        <p:spPr>
          <a:xfrm>
            <a:off x="7333488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086600" y="1984248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payer_code, max_glu_serum — each &gt;90% missing; imputing would manufacture signal that isn't there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58000" y="2697480"/>
            <a:ext cx="4754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2E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22592" y="286207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7333488" y="27889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86600" y="3081528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race, medical_specialty → “Unknown”; diag_1–3 → “Missing”; A1Cresult → “Not Tested” (informative per Strack et al., 2014)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858000" y="3794760"/>
            <a:ext cx="4754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2E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022592" y="395935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7333488" y="3886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086600" y="4178808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2,423 deceased/hospice discharges removed before cohort filtering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58000" y="4892040"/>
            <a:ext cx="4754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2E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022592" y="505663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9" name="Text 16"/>
          <p:cNvSpPr/>
          <p:nvPr/>
        </p:nvSpPr>
        <p:spPr>
          <a:xfrm>
            <a:off x="7333488" y="4983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086600" y="5276088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split key prevents repeat-encounter leakage across train/test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3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Workflow as a Prefect DAG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0E4B5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ingest_encounters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029968" y="20345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21992" y="18288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0E4B5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7712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ingest_id_mappings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03320" y="20345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95344" y="18288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0E4B5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41064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76672" y="20345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68696" y="18288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0E4B5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14416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50024" y="20345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42048" y="18288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0E4B5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87768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write_processed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723376" y="20345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15400" y="18288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02C39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3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396728" y="20345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88752" y="18288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02C39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34472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3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bias_check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2880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4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  diabetic_readmission_pipeline()  —  src/preprocessing/dag.py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0E4B54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CONFIRMATION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101,766 → 17,983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14400" y="4709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through the full DAG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2044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520440" y="4709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checks passed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13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126480" y="4709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unit tests passed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252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732520" y="4709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steps — fully orchestrated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5486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4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with: python -m src.preprocessing.dag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GATE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 Suite — Great Expectations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834640" cy="4434840"/>
          </a:xfrm>
          <a:prstGeom prst="roundRect">
            <a:avLst>
              <a:gd name="adj" fmla="val 2581"/>
            </a:avLst>
          </a:prstGeom>
          <a:solidFill>
            <a:srgbClr val="0135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passed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794760"/>
            <a:ext cx="21031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77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+ 5/5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checks (dropped fields, identifiers absent)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16916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691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0520" y="166420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≥ 5,000 (course minimum)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9040" y="220370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203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60520" y="217627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race, diag_1–3 not null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271576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2715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60520" y="268833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medical_specialty, A1Cresult not null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49040" y="322783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3227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60520" y="32004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time_in_hospital between 1–14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49040" y="373989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60520" y="371246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readmitted_30d in {0, 1}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49040" y="425196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0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60520" y="422452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diag_1_category in known set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49040" y="47640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4764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60520" y="473659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payer_code, max_glu_serum absent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749040" y="52760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3749040" y="5276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60520" y="524865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encounter_id, patient_nbr absent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59253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with: python -m src.preprocessing.validation.validate  —  results written to reports/validation_results.txt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&amp; COLLABORATION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Tests &amp; Containerization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12064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13/13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93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(pytest)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6974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recoding ('?' → null)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0403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0403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High-missingness field drop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3832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logic (race, diag, A1C)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37261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7261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filter (2+ visits)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0690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0690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ICD-9 category mapping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44119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4119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binarization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7548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removal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4400" y="50977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0977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split-key determinism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54406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54406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k-anonymity suppression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169164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01353D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7269480" y="1993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(Docker)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83680" y="269748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python:3.12-slim base image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installs requirements.txt (incl. Great Expectations, Prefect, Fairlearn, pytest)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copies src/ and tests/ only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data/ mounted as a volume at runtime, never baked into the image (Privacy by Design)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CMD runs the full DAG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4892040"/>
            <a:ext cx="4754880" cy="1005840"/>
          </a:xfrm>
          <a:prstGeom prst="roundRect">
            <a:avLst>
              <a:gd name="adj" fmla="val 5455"/>
            </a:avLst>
          </a:prstGeom>
          <a:solidFill>
            <a:srgbClr val="0E4B54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50292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diabetic-readmission-pipeline 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-v $(pwd)/data:/app/data diabetic-readmission-pipeline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PRIVACY &amp; BIAS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Detection — Representation Bias in Cohort Filtering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each subgroup's share of the raw population vs. the filtered high-utilization cohort. 1.0 = proportional representation.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172200" y="196596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617220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CEEE5"/>
          </a:solidFill>
          <a:ln/>
        </p:spPr>
      </p:sp>
      <p:sp>
        <p:nvSpPr>
          <p:cNvPr id="8" name="Text 4"/>
          <p:cNvSpPr/>
          <p:nvPr/>
        </p:nvSpPr>
        <p:spPr>
          <a:xfrm>
            <a:off x="777240" y="6172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Module 4: African-American patients (1.16×) and the 20–30 age band (1.59×) are over-represented after cohort filtering — documented for the model fairness audit, not yet a model bias.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Anonymization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19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direct identifiers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0848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encounter_id and patient_nbr removed before the data leaves the anonymize stage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7249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patient split key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090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of patient_nbr enables patient-level train/test splitting in Module 4 without retaining the real ID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7307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k-anonymity suppression (k=5)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0965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subgroup reporting table with fewer than 5 records has its values replaced with a suppression marker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736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linkage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51023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has no external join points — enforced structurally, confirmed by Great Expectations schema checks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66560" y="1737360"/>
            <a:ext cx="4846320" cy="4114800"/>
          </a:xfrm>
          <a:prstGeom prst="roundRect">
            <a:avLst>
              <a:gd name="adj" fmla="val 1778"/>
            </a:avLst>
          </a:prstGeom>
          <a:solidFill>
            <a:srgbClr val="01353D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1965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SUPPRESSION IN ACTION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331720"/>
          <a:ext cx="4206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Caucasian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3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AfricanAmerican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3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Hispanic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3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FA8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FA8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3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FA8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FA8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39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086600" y="4937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Small-count subgroups are suppressed before any report or dashboard view is generated — never exposed, even internally.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Governance Framework &amp; Privacy Audit Logging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01752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Asset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data/raw/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only, local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duration; never committed to GitHub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data/processed/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only, local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duration; de-identified before write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reports/ (audit, validation, bias)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+ Ethics Panel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as aggregate evidence; no row-level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 (source code)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repository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Indefinite — no credentials or data samples hardcoded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9476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01353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AUDIT LOGGING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4343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pipeline stage calls log_access(), producing a timestamped, metadata-only record — never raw field values: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754880"/>
            <a:ext cx="9966960" cy="1051560"/>
          </a:xfrm>
          <a:prstGeom prst="roundRect">
            <a:avLst>
              <a:gd name="adj" fmla="val 5217"/>
            </a:avLst>
          </a:prstGeom>
          <a:solidFill>
            <a:srgbClr val="0A3239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486460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2026-08-23 11:02:31 | stage=clean dataset=diabetic_data step=cohort_filter, rows_before=99343, rows_after=17983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2026-08-23 11:02:32 | stage=anonymize dataset=diabetic_data step=drop_identifiers, dropped=['encounter_id', 'patient_nbr']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3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Reproducible Pipeline, Ready for Module 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E4B5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17,983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validated 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E4B54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checks passed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E4B54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13/13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6364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E4B54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stages, fully orchestrated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pipeline hands off to Module 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977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cohort-filtered, de-identified dataset (data/processed/cleaned_cohort.csv)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480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representation-bias baseline to compare the trained model's fairness audit against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983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governance and audit-logging framework already wired into every stage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715000"/>
            <a:ext cx="11064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Repository: github.com/&lt;username&gt;/diabetic-readmit-xai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Sitienei  |  MSc Data Analytics, Nexford University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2026-08-23T16:08:01Z</dcterms:created>
  <dcterms:modified xsi:type="dcterms:W3CDTF">2026-08-23T16:08:01Z</dcterms:modified>
</cp:coreProperties>
</file>